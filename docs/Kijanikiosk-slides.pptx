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6405"/>
  </p:normalViewPr>
  <p:slideViewPr>
    <p:cSldViewPr snapToGrid="0">
      <p:cViewPr varScale="1">
        <p:scale>
          <a:sx n="88" d="100"/>
          <a:sy n="88" d="100"/>
        </p:scale>
        <p:origin x="17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5/18/26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87E4-1121-1F2D-C62D-726761468C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0" i="0" u="none" strike="noStrike" dirty="0" err="1">
                <a:effectLst/>
                <a:latin typeface="-webkit-standard"/>
              </a:rPr>
              <a:t>KijaniKiosk</a:t>
            </a:r>
            <a:r>
              <a:rPr lang="en-GB" b="0" i="0" u="none" strike="noStrike" dirty="0">
                <a:effectLst/>
                <a:latin typeface="-webkit-standard"/>
              </a:rPr>
              <a:t> Capstone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9020A-CE10-4D7A-63C1-892BA3BA43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Amy </a:t>
            </a:r>
            <a:r>
              <a:rPr lang="en-GB" b="0" i="0" u="none" strike="noStrike" dirty="0" err="1">
                <a:effectLst/>
                <a:latin typeface="-webkit-standard"/>
              </a:rPr>
              <a:t>Gathoni</a:t>
            </a:r>
            <a:endParaRPr lang="en-GB" b="0" i="0" u="none" strike="noStrike" dirty="0">
              <a:effectLst/>
              <a:latin typeface="-webkit-standard"/>
            </a:endParaRPr>
          </a:p>
          <a:p>
            <a:r>
              <a:rPr lang="en-GB" dirty="0">
                <a:latin typeface="-webkit-standard"/>
              </a:rPr>
              <a:t>May 2026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288775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B38B-BC2A-4589-343E-E2C52C51C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dirty="0" err="1">
                <a:effectLst/>
              </a:rPr>
              <a:t>KijaniKiosk</a:t>
            </a:r>
            <a:r>
              <a:rPr lang="en-GB" b="1" i="0" u="none" strike="noStrike" dirty="0">
                <a:effectLst/>
              </a:rPr>
              <a:t> CI/CD Delivery System</a:t>
            </a:r>
            <a:br>
              <a:rPr lang="en-GB" b="1" i="0" u="none" strike="noStrike" dirty="0">
                <a:effectLst/>
              </a:rPr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2F941-BF74-9C4B-BDE1-2739C6E17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b="1" i="0" u="none" strike="noStrike" dirty="0">
                <a:effectLst/>
              </a:rPr>
              <a:t>Capstone Project: End-to-End DevOps Pipeline</a:t>
            </a:r>
            <a:endParaRPr lang="en-GB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Jenkins-based CI/CD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Docker containerized builds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Kubernetes (Kind) deployment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Staging → Production workflow with approval gate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995241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9CB9-BFD8-9519-F335-9977D404B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Problem Statement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94E0E-4E03-81DB-F835-5548D99B3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GB" b="1" i="0" u="none" strike="noStrike" dirty="0">
                <a:effectLst/>
              </a:rPr>
              <a:t>Why this system was built</a:t>
            </a:r>
          </a:p>
          <a:p>
            <a:pPr algn="l"/>
            <a:r>
              <a:rPr lang="en-GB" b="0" i="0" u="none" strike="noStrike" dirty="0" err="1">
                <a:effectLst/>
              </a:rPr>
              <a:t>KijaniKiosk</a:t>
            </a:r>
            <a:r>
              <a:rPr lang="en-GB" b="0" i="0" u="none" strike="noStrike" dirty="0">
                <a:effectLst/>
              </a:rPr>
              <a:t> previously had: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No CI/CD pipeline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No containerized deployment strategy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No environment separation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No deployment automation</a:t>
            </a:r>
          </a:p>
          <a:p>
            <a:pPr algn="l"/>
            <a:r>
              <a:rPr lang="en-GB" b="1" i="0" u="none" strike="noStrike" dirty="0">
                <a:effectLst/>
              </a:rPr>
              <a:t>Goal:</a:t>
            </a:r>
          </a:p>
          <a:p>
            <a:pPr algn="l"/>
            <a:r>
              <a:rPr lang="en-GB" b="0" i="0" u="none" strike="noStrike" dirty="0">
                <a:effectLst/>
              </a:rPr>
              <a:t>Build a </a:t>
            </a:r>
            <a:r>
              <a:rPr lang="en-GB" b="1" i="0" u="none" strike="noStrike" dirty="0">
                <a:effectLst/>
              </a:rPr>
              <a:t>repeatable delivery system</a:t>
            </a:r>
            <a:r>
              <a:rPr lang="en-GB" b="0" i="0" u="none" strike="noStrike" dirty="0">
                <a:effectLst/>
              </a:rPr>
              <a:t> that simulates production-grade software deployment.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019118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043F-C757-956C-E81B-D0325E0E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System Objectives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C03F9-033F-EECB-B464-41CC983F8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1" i="0" u="none" strike="noStrike" dirty="0">
                <a:effectLst/>
              </a:rPr>
              <a:t>What the system was designed to achieve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Automate application build using Docker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Deploy to Kubernetes (Kind cluster)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Separate staging and production environments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Introduce manual approval gate before production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Simulate real-world CI/CD workflow using Jenkins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86824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F08B-C772-CC2C-DB1E-9593BAF63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Architecture Overview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1548-0059-107E-4EA0-DB2209878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1" i="0" u="none" strike="noStrike" dirty="0">
                <a:effectLst/>
              </a:rPr>
              <a:t>High-level system design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GitHub → Source control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Jenkins → CI/CD orchestration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Docker → Image build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Kubernetes (Kind) → Deployment platform</a:t>
            </a:r>
          </a:p>
          <a:p>
            <a:pPr algn="l"/>
            <a:r>
              <a:rPr lang="en-GB" b="1" i="0" u="none" strike="noStrike" dirty="0">
                <a:effectLst/>
              </a:rPr>
              <a:t>Flow:</a:t>
            </a:r>
          </a:p>
          <a:p>
            <a:pPr algn="l"/>
            <a:r>
              <a:rPr lang="en-GB" b="0" i="0" u="none" strike="noStrike" dirty="0">
                <a:effectLst/>
              </a:rPr>
              <a:t>Code → Build → Staging → Approval → Production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383725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68F-E542-62E3-AD3E-CFF4969A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CI/CD Pipeline Stages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B74D9-9587-D7D6-3B0E-C6DB912D7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1" i="0" u="none" strike="noStrike" dirty="0">
                <a:effectLst/>
              </a:rPr>
              <a:t>Jenkins Pipeline Flow</a:t>
            </a:r>
          </a:p>
          <a:p>
            <a:pPr algn="l">
              <a:buFont typeface="+mj-lt"/>
              <a:buAutoNum type="arabicPeriod"/>
            </a:pPr>
            <a:r>
              <a:rPr lang="en-GB" b="0" i="0" u="none" strike="noStrike" dirty="0">
                <a:effectLst/>
              </a:rPr>
              <a:t>Checkout source code from GitHub</a:t>
            </a:r>
          </a:p>
          <a:p>
            <a:pPr algn="l">
              <a:buFont typeface="+mj-lt"/>
              <a:buAutoNum type="arabicPeriod"/>
            </a:pPr>
            <a:r>
              <a:rPr lang="en-GB" b="0" i="0" u="none" strike="noStrike" dirty="0">
                <a:effectLst/>
              </a:rPr>
              <a:t>Build Docker image</a:t>
            </a:r>
          </a:p>
          <a:p>
            <a:pPr algn="l">
              <a:buFont typeface="+mj-lt"/>
              <a:buAutoNum type="arabicPeriod"/>
            </a:pPr>
            <a:r>
              <a:rPr lang="en-GB" b="0" i="0" u="none" strike="noStrike" dirty="0">
                <a:effectLst/>
              </a:rPr>
              <a:t>Deploy to staging namespace (</a:t>
            </a:r>
            <a:r>
              <a:rPr lang="en-GB" b="0" i="0" u="none" strike="noStrike" dirty="0" err="1">
                <a:effectLst/>
              </a:rPr>
              <a:t>kijani</a:t>
            </a:r>
            <a:r>
              <a:rPr lang="en-GB" b="0" i="0" u="none" strike="noStrike" dirty="0">
                <a:effectLst/>
              </a:rPr>
              <a:t>-staging)</a:t>
            </a:r>
          </a:p>
          <a:p>
            <a:pPr algn="l">
              <a:buFont typeface="+mj-lt"/>
              <a:buAutoNum type="arabicPeriod"/>
            </a:pPr>
            <a:r>
              <a:rPr lang="en-GB" b="0" i="0" u="none" strike="noStrike" dirty="0">
                <a:effectLst/>
              </a:rPr>
              <a:t>Run basic verification (</a:t>
            </a:r>
            <a:r>
              <a:rPr lang="en-GB" b="0" i="0" u="none" strike="noStrike" dirty="0" err="1">
                <a:effectLst/>
              </a:rPr>
              <a:t>kubectl</a:t>
            </a:r>
            <a:r>
              <a:rPr lang="en-GB" b="0" i="0" u="none" strike="noStrike" dirty="0">
                <a:effectLst/>
              </a:rPr>
              <a:t> checks)</a:t>
            </a:r>
          </a:p>
          <a:p>
            <a:pPr algn="l">
              <a:buFont typeface="+mj-lt"/>
              <a:buAutoNum type="arabicPeriod"/>
            </a:pPr>
            <a:r>
              <a:rPr lang="en-GB" b="0" i="0" u="none" strike="noStrike" dirty="0">
                <a:effectLst/>
              </a:rPr>
              <a:t>Manual approval gate</a:t>
            </a:r>
          </a:p>
          <a:p>
            <a:pPr algn="l">
              <a:buFont typeface="+mj-lt"/>
              <a:buAutoNum type="arabicPeriod"/>
            </a:pPr>
            <a:r>
              <a:rPr lang="en-GB" b="0" i="0" u="none" strike="noStrike" dirty="0">
                <a:effectLst/>
              </a:rPr>
              <a:t>Deploy to production namespace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20172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5BDD-9C15-6086-D4BC-FDDDBAC3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Infrastructure Setup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3048E-6BCC-6A09-B27F-18A88B690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GB" b="1" i="0" u="none" strike="noStrike" dirty="0">
                <a:effectLst/>
              </a:rPr>
              <a:t>Kubernetes Environment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Local Kubernetes cluster using Kind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Namespaces: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effectLst/>
              </a:rPr>
              <a:t>kijani</a:t>
            </a:r>
            <a:r>
              <a:rPr lang="en-GB" b="0" i="0" u="none" strike="noStrike" dirty="0">
                <a:effectLst/>
              </a:rPr>
              <a:t>-staging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production</a:t>
            </a:r>
          </a:p>
          <a:p>
            <a:pPr algn="l"/>
            <a:r>
              <a:rPr lang="en-GB" b="1" i="0" u="none" strike="noStrike" dirty="0">
                <a:effectLst/>
              </a:rPr>
              <a:t>Tools used: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effectLst/>
              </a:rPr>
              <a:t>kubectl</a:t>
            </a:r>
            <a:r>
              <a:rPr lang="en-GB" b="0" i="0" u="none" strike="noStrike" dirty="0">
                <a:effectLst/>
              </a:rPr>
              <a:t> for cluster interaction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Docker Desktop for container runtime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Jenkins running in Docker container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978638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9A300-7FD7-9461-242A-4BED8512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Challenges &amp; Limitations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3363B-501F-4678-B9D5-45C72607C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1" i="0" u="none" strike="noStrike" dirty="0">
                <a:effectLst/>
              </a:rPr>
              <a:t>Real-world issues encountered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Kubernetes authentication mismatch in containerized Jenkins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Docker CLI and socket permission issues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Namespace configuration dependency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Pipeline instability due to environment setup complexity</a:t>
            </a:r>
          </a:p>
          <a:p>
            <a:pPr algn="l"/>
            <a:r>
              <a:rPr lang="en-GB" b="1" i="0" u="none" strike="noStrike" dirty="0">
                <a:effectLst/>
              </a:rPr>
              <a:t>Key Insight:</a:t>
            </a:r>
          </a:p>
          <a:p>
            <a:pPr algn="l"/>
            <a:r>
              <a:rPr lang="en-GB" b="0" i="0" u="none" strike="noStrike" dirty="0">
                <a:effectLst/>
              </a:rPr>
              <a:t>CI/CD reliability depends heavily on </a:t>
            </a:r>
            <a:r>
              <a:rPr lang="en-GB" b="1" i="0" u="none" strike="noStrike" dirty="0">
                <a:effectLst/>
              </a:rPr>
              <a:t>infrastructure consistency</a:t>
            </a:r>
            <a:r>
              <a:rPr lang="en-GB" b="0" i="0" u="none" strike="noStrike" dirty="0">
                <a:effectLst/>
              </a:rPr>
              <a:t>, not just code.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263837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2D79-3E60-55CE-4037-D97B5EFA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Outcomes &amp; Learnings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BFE73-918A-AEBD-2347-14E3245F4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GB" b="1" i="0" u="none" strike="noStrike" dirty="0">
                <a:effectLst/>
              </a:rPr>
              <a:t>What was achieved</a:t>
            </a:r>
          </a:p>
          <a:p>
            <a:pPr algn="l"/>
            <a:r>
              <a:rPr lang="en-GB" b="0" i="0" u="none" strike="noStrike" dirty="0">
                <a:effectLst/>
              </a:rPr>
              <a:t>✔ Functional CI/CD pipeline structure</a:t>
            </a:r>
            <a:br>
              <a:rPr lang="en-GB" b="0" i="0" u="none" strike="noStrike" dirty="0">
                <a:effectLst/>
              </a:rPr>
            </a:br>
            <a:r>
              <a:rPr lang="en-GB" b="0" i="0" u="none" strike="noStrike" dirty="0">
                <a:effectLst/>
              </a:rPr>
              <a:t>✔ Working Kubernetes cluster deployment</a:t>
            </a:r>
            <a:br>
              <a:rPr lang="en-GB" b="0" i="0" u="none" strike="noStrike" dirty="0">
                <a:effectLst/>
              </a:rPr>
            </a:br>
            <a:r>
              <a:rPr lang="en-GB" b="0" i="0" u="none" strike="noStrike" dirty="0">
                <a:effectLst/>
              </a:rPr>
              <a:t>✔ Docker-based build system</a:t>
            </a:r>
            <a:br>
              <a:rPr lang="en-GB" b="0" i="0" u="none" strike="noStrike" dirty="0">
                <a:effectLst/>
              </a:rPr>
            </a:br>
            <a:r>
              <a:rPr lang="en-GB" b="0" i="0" u="none" strike="noStrike" dirty="0">
                <a:effectLst/>
              </a:rPr>
              <a:t>✔ Multi-environment deployment design</a:t>
            </a:r>
          </a:p>
          <a:p>
            <a:pPr algn="l"/>
            <a:r>
              <a:rPr lang="en-GB" b="1" i="0" u="none" strike="noStrike" dirty="0">
                <a:effectLst/>
              </a:rPr>
              <a:t>Key Learnings: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Containerized CI introduces networking complexity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Kubernetes context must match execution environment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Infrastructure must be reproducible, not manual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82656973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</TotalTime>
  <Words>318</Words>
  <Application>Microsoft Macintosh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-webkit-standard</vt:lpstr>
      <vt:lpstr>Arial</vt:lpstr>
      <vt:lpstr>Trebuchet MS</vt:lpstr>
      <vt:lpstr>Berlin</vt:lpstr>
      <vt:lpstr>KijaniKiosk Capstone</vt:lpstr>
      <vt:lpstr>KijaniKiosk CI/CD Delivery System </vt:lpstr>
      <vt:lpstr>Problem Statement</vt:lpstr>
      <vt:lpstr>System Objectives</vt:lpstr>
      <vt:lpstr>Architecture Overview</vt:lpstr>
      <vt:lpstr>CI/CD Pipeline Stages</vt:lpstr>
      <vt:lpstr>Infrastructure Setup</vt:lpstr>
      <vt:lpstr>Challenges &amp; Limitations</vt:lpstr>
      <vt:lpstr>Outcomes &amp; 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KijaniKiosk Capstone</dc:title>
  <dc:creator>Microsoft Office User</dc:creator>
  <cp:lastModifiedBy>Microsoft Office User</cp:lastModifiedBy>
  <cp:revision>1</cp:revision>
  <dcterms:created xsi:type="dcterms:W3CDTF">2026-05-18T08:20:44Z</dcterms:created>
  <dcterms:modified xsi:type="dcterms:W3CDTF">2026-05-18T08:26:24Z</dcterms:modified>
</cp:coreProperties>
</file>